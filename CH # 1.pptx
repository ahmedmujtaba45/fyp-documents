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Outfit SemiBold" panose="020B0604020202020204" charset="0"/>
      <p:regular r:id="rId13"/>
      <p:bold r:id="rId14"/>
    </p:embeddedFont>
    <p:embeddedFont>
      <p:font typeface="Inter SemiBold" panose="020B0604020202020204" charset="0"/>
      <p:regular r:id="rId15"/>
      <p:bold r:id="rId16"/>
      <p:italic r:id="rId17"/>
      <p:boldItalic r:id="rId18"/>
    </p:embeddedFont>
    <p:embeddedFont>
      <p:font typeface="Outfit" panose="020B0604020202020204" charset="0"/>
      <p:regular r:id="rId19"/>
      <p:bold r:id="rId20"/>
    </p:embeddedFont>
    <p:embeddedFont>
      <p:font typeface="Inter" panose="020B060402020202020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598C4F6-13B6-4F8A-B67E-73904C602481}">
  <a:tblStyle styleId="{E598C4F6-13B6-4F8A-B67E-73904C60248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0" d="100"/>
          <a:sy n="60" d="100"/>
        </p:scale>
        <p:origin x="816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font" Target="fonts/font16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font" Target="fonts/font15.fntdata"/><Relationship Id="rId28" Type="http://schemas.openxmlformats.org/officeDocument/2006/relationships/tableStyles" Target="tableStyle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font" Target="fonts/font1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266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063256" y="2253704"/>
            <a:ext cx="10079665" cy="1437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Performance Evaluation </a:t>
            </a:r>
            <a:r>
              <a:rPr lang="en-US" sz="5400" b="1" i="0" u="none" strike="noStrike" cap="none" dirty="0" smtClean="0">
                <a:solidFill>
                  <a:schemeClr val="tx1"/>
                </a:solidFill>
                <a:latin typeface="Outfit"/>
                <a:ea typeface="Outfit"/>
                <a:cs typeface="Outfit"/>
                <a:sym typeface="Outfit"/>
              </a:rPr>
              <a:t>Tool</a:t>
            </a:r>
          </a:p>
          <a:p>
            <a:pPr algn="ctr"/>
            <a:r>
              <a:rPr lang="en-US" sz="2000" dirty="0">
                <a:latin typeface="Inter" panose="020B0604020202020204" charset="0"/>
                <a:ea typeface="Inter" panose="020B0604020202020204" charset="0"/>
              </a:rPr>
              <a:t>Automating Productivity &amp; Transparency through KPI-based Assessment</a:t>
            </a:r>
            <a:endParaRPr lang="en-US" sz="2000" dirty="0">
              <a:latin typeface="Inter" panose="020B0604020202020204" charset="0"/>
              <a:ea typeface="Inter" panose="020B0604020202020204" charset="0"/>
            </a:endParaRPr>
          </a:p>
          <a:p>
            <a:endParaRPr dirty="0">
              <a:solidFill>
                <a:schemeClr val="tx1"/>
              </a:solidFill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809750" y="4000351"/>
            <a:ext cx="857250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smtClean="0">
                <a:solidFill>
                  <a:srgbClr val="475569"/>
                </a:solidFill>
                <a:latin typeface="Inter"/>
                <a:ea typeface="Inter"/>
                <a:sym typeface="Inter"/>
              </a:rPr>
              <a:t>Ahmed Mujtaba     BSE231092</a:t>
            </a:r>
          </a:p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 smtClean="0">
                <a:solidFill>
                  <a:srgbClr val="475569"/>
                </a:solidFill>
                <a:latin typeface="Inter"/>
                <a:ea typeface="Inter"/>
                <a:sym typeface="Inter"/>
              </a:rPr>
              <a:t>Nauman</a:t>
            </a:r>
            <a:r>
              <a:rPr lang="en-US" sz="1800" dirty="0" smtClean="0">
                <a:solidFill>
                  <a:srgbClr val="475569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 sz="1800" dirty="0" err="1" smtClean="0">
                <a:solidFill>
                  <a:srgbClr val="475569"/>
                </a:solidFill>
                <a:latin typeface="Inter"/>
                <a:ea typeface="Inter"/>
                <a:sym typeface="Inter"/>
              </a:rPr>
              <a:t>Manzoor</a:t>
            </a:r>
            <a:r>
              <a:rPr lang="en-US" sz="1800" dirty="0" smtClean="0">
                <a:solidFill>
                  <a:srgbClr val="475569"/>
                </a:solidFill>
                <a:latin typeface="Inter"/>
                <a:ea typeface="Inter"/>
                <a:sym typeface="Inter"/>
              </a:rPr>
              <a:t>  BSE231094</a:t>
            </a:r>
          </a:p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smtClean="0">
                <a:solidFill>
                  <a:srgbClr val="475569"/>
                </a:solidFill>
                <a:latin typeface="Inter"/>
                <a:ea typeface="Inter"/>
                <a:sym typeface="Inter"/>
              </a:rPr>
              <a:t>Omer </a:t>
            </a:r>
            <a:r>
              <a:rPr lang="en-US" sz="1800" dirty="0" err="1" smtClean="0">
                <a:solidFill>
                  <a:srgbClr val="475569"/>
                </a:solidFill>
                <a:latin typeface="Inter"/>
                <a:ea typeface="Inter"/>
                <a:sym typeface="Inter"/>
              </a:rPr>
              <a:t>Yar</a:t>
            </a:r>
            <a:r>
              <a:rPr lang="en-US" sz="1800" dirty="0" smtClean="0">
                <a:solidFill>
                  <a:srgbClr val="475569"/>
                </a:solidFill>
                <a:latin typeface="Inter"/>
                <a:ea typeface="Inter"/>
                <a:sym typeface="Inter"/>
              </a:rPr>
              <a:t>                BSE231086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6667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45732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857250" y="145732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Subjectivity &amp; Bias: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Relying on memory and manual paperwork leads to inconsistent evaluations.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857250" y="2257425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Time Inefficiency: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Manual tracking processes consume significant HR and Management hours each quarter.</a:t>
            </a:r>
            <a:endParaRPr dirty="0"/>
          </a:p>
        </p:txBody>
      </p:sp>
      <p:sp>
        <p:nvSpPr>
          <p:cNvPr id="95" name="Google Shape;95;p14"/>
          <p:cNvSpPr txBox="1"/>
          <p:nvPr/>
        </p:nvSpPr>
        <p:spPr>
          <a:xfrm>
            <a:off x="857250" y="3362325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Lack of Transparency: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Employees are left "in the dark" about their grading metrics and performance standing.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857250" y="4467225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High Costs: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Existing enterprise solutions (like SAP or Workday) are often too expensive and complex for small to medium-sized enterprises.</a:t>
            </a:r>
            <a:endParaRPr/>
          </a:p>
        </p:txBody>
      </p:sp>
      <p:pic>
        <p:nvPicPr>
          <p:cNvPr id="97" name="Google Shape;9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72225" y="1457325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The Problem: Modern Evaluation Challenges</a:t>
            </a:r>
            <a:endParaRPr/>
          </a:p>
        </p:txBody>
      </p:sp>
      <p:pic>
        <p:nvPicPr>
          <p:cNvPr id="99" name="Google Shape;99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1590675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386582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67773" y="349364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600698"/>
            <a:ext cx="952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27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57325"/>
            <a:ext cx="3492549" cy="422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457325"/>
            <a:ext cx="3492549" cy="422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1457325"/>
            <a:ext cx="3492549" cy="422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184785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866775" y="2847975"/>
            <a:ext cx="165020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KPI-Focused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866775" y="3324225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Evaluations are shifted from guesswork to a data-driven structure based strictly on predefined Key Performance Indicators tailored to roles.</a:t>
            </a:r>
            <a:endParaRPr/>
          </a:p>
        </p:txBody>
      </p:sp>
      <p:pic>
        <p:nvPicPr>
          <p:cNvPr id="114" name="Google Shape;114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184785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4645074" y="2847975"/>
            <a:ext cx="266033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Dual-Scoring System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4645074" y="3324225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 balanced 25-mark structure ensures fairness, where 20 marks are evaluated by the Line Manager and 5 marks are assigned by HR.</a:t>
            </a:r>
            <a:endParaRPr/>
          </a:p>
        </p:txBody>
      </p:sp>
      <p:pic>
        <p:nvPicPr>
          <p:cNvPr id="117" name="Google Shape;117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184785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8423374" y="2847975"/>
            <a:ext cx="26003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Automated Tracking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423374" y="3324225"/>
            <a:ext cx="2901999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Maintains continuous performance records via accessible dashboards, replacing once-a-year surprises with real-time quarterly visibility.</a:t>
            </a:r>
            <a:endParaRPr/>
          </a:p>
        </p:txBody>
      </p:sp>
      <p:pic>
        <p:nvPicPr>
          <p:cNvPr id="120" name="Google Shape;120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57275" y="20383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787949" y="2038350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613874" y="20383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571500" y="571500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The Solution: A </a:t>
            </a:r>
            <a:r>
              <a:rPr lang="en-US" sz="3150" b="1" i="0" u="none" strike="noStrike" cap="none" dirty="0" smtClean="0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Structured </a:t>
            </a:r>
            <a:r>
              <a:rPr lang="en-US" sz="3150" b="1" i="0" u="none" strike="noStrike" cap="none" dirty="0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Automated Platform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23987"/>
            <a:ext cx="11049000" cy="48958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0" name="Google Shape;130;p16"/>
          <p:cNvGraphicFramePr/>
          <p:nvPr/>
        </p:nvGraphicFramePr>
        <p:xfrm>
          <a:off x="581025" y="1433512"/>
          <a:ext cx="11029950" cy="4876750"/>
        </p:xfrm>
        <a:graphic>
          <a:graphicData uri="http://schemas.openxmlformats.org/drawingml/2006/table">
            <a:tbl>
              <a:tblPr firstRow="1" bandRow="1">
                <a:noFill/>
                <a:tableStyleId>{E598C4F6-13B6-4F8A-B67E-73904C602481}</a:tableStyleId>
              </a:tblPr>
              <a:tblGrid>
                <a:gridCol w="330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2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75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F172A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Stakeholder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F172A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Key Benefit &amp; Impact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5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HR Department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Enables streamlined reporting, automated evaluation cycles, and centralized data management.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5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Line Managers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Provides simplified, objective scoring tools to accurately evaluate and document team productivity.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5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Employees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Delivers full transparency into current scores, historical performance, and clear metrics for growth.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5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The Organization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Drives higher retention, ensures fairer promotions, and vastly improves overall operational efficiency.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9" name="Google Shape;139;p16"/>
          <p:cNvSpPr txBox="1"/>
          <p:nvPr/>
        </p:nvSpPr>
        <p:spPr>
          <a:xfrm>
            <a:off x="571500" y="538162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Who Gains the Most?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762000" y="762000"/>
            <a:ext cx="5300662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Tools &amp; Technologies</a:t>
            </a:r>
            <a:endParaRPr/>
          </a:p>
        </p:txBody>
      </p:sp>
      <p:pic>
        <p:nvPicPr>
          <p:cNvPr id="146" name="Google Shape;14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0"/>
            <a:ext cx="58102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762000" y="1457325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Our system leverages a robust, enterprise-grade stack to ensure long-term security, seamless integration, and high scalability.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762000" y="2744985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Backend: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C# (.NET) — Selected for exceptional security and enterprise support.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762000" y="3537346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Frontend: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HTML5, CSS3, &amp; JS — Delivering a highly responsive, user-friendly dashboard interface.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762000" y="4329707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Database: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SQL Server — Ensuring reliable, ACID-compliant storage for sensitive employee records.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762000" y="5122068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Environment: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Visual Studio — Used for optimized debugging and streamlined deployment cycles.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224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/>
          <p:nvPr/>
        </p:nvSpPr>
        <p:spPr>
          <a:xfrm>
            <a:off x="571500" y="3298370"/>
            <a:ext cx="11049000" cy="571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 txBox="1"/>
          <p:nvPr/>
        </p:nvSpPr>
        <p:spPr>
          <a:xfrm>
            <a:off x="507968" y="3660320"/>
            <a:ext cx="2668302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Analysis &amp; Design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571500" y="4003220"/>
            <a:ext cx="254124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April 2026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Defining requirements, UI/UX, and architecture planning.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3343888" y="1776453"/>
            <a:ext cx="2668302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Development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3407419" y="2119353"/>
            <a:ext cx="254124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May – Aug 2026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14-week sprint for Frontend, Backend, &amp; Database building.</a:t>
            </a:r>
            <a:endParaRPr dirty="0"/>
          </a:p>
        </p:txBody>
      </p:sp>
      <p:sp>
        <p:nvSpPr>
          <p:cNvPr id="162" name="Google Shape;162;p18"/>
          <p:cNvSpPr txBox="1"/>
          <p:nvPr/>
        </p:nvSpPr>
        <p:spPr>
          <a:xfrm>
            <a:off x="6179808" y="3660320"/>
            <a:ext cx="2668302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Testing &amp; QA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6243339" y="4003220"/>
            <a:ext cx="254124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Aug – Oct 2026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Ensuring a bug-free experience and full system stability.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9015728" y="1776453"/>
            <a:ext cx="2668302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Go-Live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9079259" y="2119353"/>
            <a:ext cx="254124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January 2027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Full deployment, documentation, training, and system launch.</a:t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1727820" y="321264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4563740" y="321264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7399659" y="321264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10235579" y="321264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 txBox="1"/>
          <p:nvPr/>
        </p:nvSpPr>
        <p:spPr>
          <a:xfrm>
            <a:off x="571500" y="464682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Roadmap to Deployment (2026-2027)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358</Words>
  <Application>Microsoft Office PowerPoint</Application>
  <PresentationFormat>Widescreen</PresentationFormat>
  <Paragraphs>43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Calibri</vt:lpstr>
      <vt:lpstr>Outfit SemiBold</vt:lpstr>
      <vt:lpstr>Inter SemiBold</vt:lpstr>
      <vt:lpstr>Outfit</vt:lpstr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Ahmed</cp:lastModifiedBy>
  <cp:revision>9</cp:revision>
  <dcterms:modified xsi:type="dcterms:W3CDTF">2026-03-25T17:25:49Z</dcterms:modified>
</cp:coreProperties>
</file>